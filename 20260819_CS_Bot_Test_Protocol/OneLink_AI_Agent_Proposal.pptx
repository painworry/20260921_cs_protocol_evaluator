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305F-6007-4514-9773-D7D0059A8089}" type="datetimeFigureOut"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74FF3-6333-4DBB-921B-72D622C2C3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55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1F2D3D"/>
          </a:solidFill>
          <a:ln/>
        </p:spPr>
      </p:sp>
      <p:pic>
        <p:nvPicPr>
          <p:cNvPr id="3" name="Image 0" descr="/home/claude/work/assets/oneli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14173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 |  HR &amp; IT ALIGNMENT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Coaching Agent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94360" y="422452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แปลง Knowledge Management (KM) ให้กลายเป็นพฤติกรรมที่วัดผลได้จริง และยกระดับคุณภาพการบริการอย่างเป็นระบบ</a:t>
            </a:r>
            <a:endParaRPr lang="en-US" sz="1500" dirty="0"/>
          </a:p>
        </p:txBody>
      </p:sp>
      <p:pic>
        <p:nvPicPr>
          <p:cNvPr id="7" name="Image 1" descr="/home/claude/work/icons/cul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257800"/>
            <a:ext cx="566928" cy="566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07592" y="52303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Way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1250" dirty="0"/>
          </a:p>
        </p:txBody>
      </p:sp>
      <p:pic>
        <p:nvPicPr>
          <p:cNvPr id="9" name="Image 2" descr="/home/claude/work/icons/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5257800"/>
            <a:ext cx="566928" cy="5669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90872" y="52303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Dialog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Quality</a:t>
            </a:r>
            <a:endParaRPr lang="en-US" sz="1250" dirty="0"/>
          </a:p>
        </p:txBody>
      </p:sp>
      <p:pic>
        <p:nvPicPr>
          <p:cNvPr id="11" name="Image 3" descr="/home/claude/work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525780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74152" y="52303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Assessment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Coaching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59436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จัดทำโดย VP CEO Office  |  เสนอเพื่อพิจารณาโดย CEO และ CTO  |  สิงหาคม 2569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ทำไมต้องเปลี่ยนตอนนี้?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การอบรมในปัจจุบันวัดผลได้เพียง “การเข้าร่วม” และ “ความรู้ตามทฤษฎี” แต่ไม่สามารถยืนยันได้ว่าพนักงานนำความรู้นั้นไปใช้ตัดสินใจจริงในสถานการณ์หน้างาน — ช่องว่างนี้คือความเสี่ยงต่อคุณภาพบริการและวัฒนธรรมองค์กรที่วัดผลไม่ได้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660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3364992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236976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วัดผลจาก Attendance และ Quiz ความรู้เท่านั้น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98678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858768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ไม่มีเครื่องมือประเมิน “การตัดสินใจจริง” ในสถานการณ์ลูกค้า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460857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48056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มาตรฐานสคริปต์บริการ (SD-CS-01) ยังไม่มีกลไกตรวจสอบการปฏิบัติจริงอย่างต่อเนื่อง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523036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510235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เป็นแบบสุ่มฟังสาย (Manual QA) — ไม่ครอบคลุมทุก Case และล่าช้ากว่าปัญหาจริง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55080" y="23317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E8F5E9"/>
          </a:solidFill>
          <a:ln w="12700">
            <a:solidFill>
              <a:srgbClr val="3DB049"/>
            </a:solidFill>
            <a:prstDash val="solid"/>
          </a:ln>
        </p:spPr>
      </p:sp>
      <p:pic>
        <p:nvPicPr>
          <p:cNvPr id="17" name="Image 1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65176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2660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Outcome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675120" y="3364992"/>
            <a:ext cx="91440" cy="91440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20" name="Text 16"/>
          <p:cNvSpPr/>
          <p:nvPr/>
        </p:nvSpPr>
        <p:spPr>
          <a:xfrm>
            <a:off x="6903720" y="3236976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วัดผล “การตัดสินใจ” และ “การสื่อสารกับลูกค้า” แบบ Scenario-based ไม่ใช่แค่ท่องจำ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675120" y="3986784"/>
            <a:ext cx="91440" cy="91440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22" name="Text 18"/>
          <p:cNvSpPr/>
          <p:nvPr/>
        </p:nvSpPr>
        <p:spPr>
          <a:xfrm>
            <a:off x="6903720" y="3858768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ประเมินการนำวัฒนธรรม OneLink Way ไปปรับใช้จริงในหน้างาน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675120" y="4608576"/>
            <a:ext cx="91440" cy="91440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24" name="Text 20"/>
          <p:cNvSpPr/>
          <p:nvPr/>
        </p:nvSpPr>
        <p:spPr>
          <a:xfrm>
            <a:off x="6903720" y="448056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ตรวจสอบการปฏิบัติตามมาตรฐานสคริปต์บริการได้ 100% ของการสนทนา ไม่ใช่สุ่มตรวจ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675120" y="5230368"/>
            <a:ext cx="91440" cy="91440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26" name="Text 22"/>
          <p:cNvSpPr/>
          <p:nvPr/>
        </p:nvSpPr>
        <p:spPr>
          <a:xfrm>
            <a:off x="6903720" y="510235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อัตโนมัติ ทันเวลา รายบุคคล พร้อม Dashboard สรุปภาพรวมให้ผู้บริหาร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วิสัยทัศน์: AI Agent หนึ่งตัว สองโมดูลหลัก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แนวคิดหลักคือ AI Agent ตัวเดียวที่ทำหน้าที่ทั้งประเมินและโค้ชพนักงาน ครอบคลุมทั้งมิติวัฒนธรรมองค์กร และมิติคุณภาพการสื่อสารกับลูกค้า โดยใช้ฐานความรู้เดียวกันจากเอกสารที่บริษัทมีอยู่แล้ว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E4057"/>
          </a:solidFill>
          <a:ln/>
        </p:spPr>
      </p:sp>
      <p:pic>
        <p:nvPicPr>
          <p:cNvPr id="6" name="Image 0" descr="/home/claude/work/icons/cul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04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08760" y="2624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Way Validation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ประเมินวัฒนธรรมองค์กรผ่านสถานการณ์จำลอง (Scenario-based Culture Assessment)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E4057"/>
          </a:solidFill>
          <a:ln/>
        </p:spPr>
      </p:sp>
      <p:pic>
        <p:nvPicPr>
          <p:cNvPr id="11" name="Image 1" descr="/home/claude/work/icon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231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404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132320" y="2624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Dialog Validation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446520" y="31089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ประเมินคุณภาพการสื่อสารของ Service Desk ตามมาตรฐานสคริปต์บริการลูกค้า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0" y="4069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84632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2" descr="/home/claude/work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0292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956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280160" y="5239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คะแนนรายบุคคล/ทีม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383280" y="484632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3" descr="/home/claude/work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50292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14800" y="4956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114800" y="5239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คำแนะนำเฉพาะบุคคล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217920" y="484632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4" descr="/home/claude/work/icons/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502920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49440" y="4956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949440" y="5239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หลักสูตรที่แนะนำต่อ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052560" y="484632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5" descr="/home/claude/work/icons/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3728" y="502920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84080" y="4956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9784080" y="5239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ภาพรวมสำหรับผู้บริหาร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รากฐานของ Module 1: หลักยึด “OneLink Way”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ไม่ได้ประเมินจากค่านิยมทั่วไป แต่ออกแบบสถานการณ์จำลองให้อิงกับหลักยึด 3 ข้อ และจุดยืนเชิงกลยุทธ์ของ OneLink ตามที่ระบุไว้ในเอกสาร “Onelink Way”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8F5E9"/>
          </a:solidFill>
          <a:ln/>
        </p:spPr>
      </p:sp>
      <p:pic>
        <p:nvPicPr>
          <p:cNvPr id="6" name="Image 0" descr="/home/claude/work/icons/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286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9923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คุณภาพที่ลดหย่อนไม่ได้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4564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ไม่ต่อรอง ไม่ประนีประนอมมาตรฐาน — ลูกค้าต้องได้รับสิ่งที่ตกลงไว้ทุกครั้ง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15384" y="21031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8F5E9"/>
          </a:solidFill>
          <a:ln/>
        </p:spPr>
      </p:sp>
      <p:pic>
        <p:nvPicPr>
          <p:cNvPr id="10" name="Image 1" descr="/home/claude/work/icons/va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4" y="228600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79976" y="299923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คุณค่าที่ส่งมอบจริง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443984" y="34564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 คือการแก้ pain point ให้หมดไปจริง ไม่ใช่แค่ขายฟีเจอร์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882128" y="21031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8F5E9"/>
          </a:solidFill>
          <a:ln/>
        </p:spPr>
      </p:sp>
      <p:pic>
        <p:nvPicPr>
          <p:cNvPr id="14" name="Image 2" descr="/home/claude/work/icons/ecosys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228600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299923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ประโยชน์ที่ทุกคนได้ร่วมกัน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110728" y="34564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นวัตกรรมเติบโตไปพร้อมพันธมิตรทั้งระบบนิเวศ ไม่ใช่เติบโตคนเดียว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4251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จุดยืนเชิงกลยุทธ์: Product Innovation Excellence — แต่ละหน่วยงานมีบทบาทค้ำจุนจุดยืนเดียวกัน คนละมุม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6634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3" descr="/home/claude/work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463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8280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Engineering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777240" y="5349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แนวหน้าของ Innovation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15384" y="46634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4" descr="/home/claude/work/icons/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984" y="484632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38344" y="48280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443984" y="5349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แนวหน้าของ Service Excellence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7882128" y="46634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5" descr="/home/claude/work/icons/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0728" y="484632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705088" y="48280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Account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110728" y="5349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แนวหน้าของ Customer Intimacy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ที่มา: เอกสาร Onelink Way Essay — เนื้อหาสกัดตรงจากต้นฉบับ (EXTRACTED)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Way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2E40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SCENARIO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“ลูกค้าร้องเรียนว่างานล่าช้า เพราะได้รับข้อมูลไม่ครบจากอีกทีมหนึ่ง คุณจะตอบสนองอย่างไร?”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DIMENSIONS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0" descr="/home/claude/work/icons/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8211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361188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Uncompromising Quality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40233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ไม่ลดมาตรฐานคำตอบ แม้สาเหตุมาจากทีมอื่น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3364992" y="301752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/home/claude/work/icons/va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318211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361188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 Delivered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29584" y="40233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แก้ pain point ลูกค้าจริง ไม่ใช่แค่ขอโทษ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6181344" y="301752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/home/claude/work/icons/ecosys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318211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61188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Ecosystem Benefit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345936" y="40233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ประสานงานข้ามทีมแทนการโยนความรับผิดชอบ</a:t>
            </a:r>
            <a:endParaRPr lang="en-US" sz="870" dirty="0"/>
          </a:p>
        </p:txBody>
      </p:sp>
      <p:sp>
        <p:nvSpPr>
          <p:cNvPr id="20" name="Shape 15"/>
          <p:cNvSpPr/>
          <p:nvPr/>
        </p:nvSpPr>
        <p:spPr>
          <a:xfrm>
            <a:off x="8997696" y="301752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3" descr="/home/claude/work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318211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361188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&amp; Integrity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162288" y="40233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รับผิดชอบต่อผลลัพธ์ สื่อสารตรงไปตรงมา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E8F5E9"/>
          </a:solidFill>
          <a:ln w="12700">
            <a:solidFill>
              <a:srgbClr val="3DB04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4828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50" dirty="0"/>
          </a:p>
        </p:txBody>
      </p:sp>
      <p:pic>
        <p:nvPicPr>
          <p:cNvPr id="26" name="Image 4" descr="/home/claude/work/icons/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19379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120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Adoption Score</a:t>
            </a:r>
            <a:endParaRPr lang="en-US" sz="1200" dirty="0"/>
          </a:p>
        </p:txBody>
      </p:sp>
      <p:pic>
        <p:nvPicPr>
          <p:cNvPr id="28" name="Image 5" descr="/home/claude/work/icons/arrow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5193792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46320" y="5120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Gaps</a:t>
            </a:r>
            <a:endParaRPr lang="en-US" sz="1200" dirty="0"/>
          </a:p>
        </p:txBody>
      </p:sp>
      <p:pic>
        <p:nvPicPr>
          <p:cNvPr id="30" name="Image 6" descr="/home/claude/work/icons/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5193792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366760" y="5120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Coaching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Dialog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ทำหน้าที่จำลองเป็นลูกค้า สนทนากับพนักงาน และประเมินการตอบสนองเทียบกับมาตรฐาน SD-CS-01 (คู่มือมาตรฐานการให้บริการลูกค้าทางโทรศัพท์) ซึ่งครอบคลุม 24 สถานการณ์บริการปกติ และ 6 สถานการณ์เสี่ยง/ทวีความรุนแรง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309360" cy="3977640"/>
          </a:xfrm>
          <a:prstGeom prst="roundRect">
            <a:avLst>
              <a:gd name="adj" fmla="val 1839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1284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  (อ้างอิง SD-CS-01)</a:t>
            </a:r>
            <a:endParaRPr lang="en-US" sz="1150" dirty="0"/>
          </a:p>
        </p:txBody>
      </p:sp>
      <p:pic>
        <p:nvPicPr>
          <p:cNvPr id="7" name="Image 0" descr="/home/claude/work/icons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786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 &amp; Professional Tone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60520" y="25786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A.1–A.2 · น้ำเสียงมืออาชีพ, การกล่าวต้อนรับ</a:t>
            </a:r>
            <a:endParaRPr lang="en-US" sz="900" dirty="0"/>
          </a:p>
        </p:txBody>
      </p:sp>
      <p:pic>
        <p:nvPicPr>
          <p:cNvPr id="10" name="Image 1" descr="/home/claude/work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54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127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Verification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60520" y="31272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A.3 · ยืนยันตัวตนก่อนเปิดเผยข้อมูล</a:t>
            </a:r>
            <a:endParaRPr lang="en-US" sz="900" dirty="0"/>
          </a:p>
        </p:txBody>
      </p:sp>
      <p:pic>
        <p:nvPicPr>
          <p:cNvPr id="13" name="Image 2" descr="/home/claude/work/icons/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03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758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Listening &amp; Diagnosis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160520" y="36758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A.4 · รับฟัง ตั้งคำถาม รวบรวมข้อมูลครบถ้วน</a:t>
            </a:r>
            <a:endParaRPr lang="en-US" sz="900" dirty="0"/>
          </a:p>
        </p:txBody>
      </p:sp>
      <p:pic>
        <p:nvPicPr>
          <p:cNvPr id="16" name="Image 3" descr="/home/claude/work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519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2245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/ Transfer Procedure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160520" y="42245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A.5–A.11 · พักสาย แจ้งความคืบหน้า โอนสายถูกต้อง</a:t>
            </a:r>
            <a:endParaRPr lang="en-US" sz="900" dirty="0"/>
          </a:p>
        </p:txBody>
      </p:sp>
      <p:pic>
        <p:nvPicPr>
          <p:cNvPr id="19" name="Image 4" descr="/home/claude/work/icons/handsha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8006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4773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&amp; De-escalation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160520" y="47731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A.19–A.22, B.2 · รับมือลูกค้าไม่พอใจ/สับสน</a:t>
            </a:r>
            <a:endParaRPr lang="en-US" sz="900" dirty="0"/>
          </a:p>
        </p:txBody>
      </p:sp>
      <p:pic>
        <p:nvPicPr>
          <p:cNvPr id="22" name="Image 5" descr="/home/claude/wor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34924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5880" y="5321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&amp; Closing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4160520" y="5321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A.15 · ปิดการสนทนาสร้างความประทับใจ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7040880" y="2057400"/>
            <a:ext cx="4572000" cy="1874520"/>
          </a:xfrm>
          <a:prstGeom prst="roundRect">
            <a:avLst>
              <a:gd name="adj" fmla="val 3902"/>
            </a:avLst>
          </a:prstGeom>
          <a:solidFill>
            <a:srgbClr val="2E4057"/>
          </a:solidFill>
          <a:ln/>
        </p:spPr>
      </p:sp>
      <p:pic>
        <p:nvPicPr>
          <p:cNvPr id="26" name="Image 6" descr="/home/claude/work/icons/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0" y="2212848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726680" y="2212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&amp; Risk Cases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7269480" y="26974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B.1 ขอคุยหัวหน้างาน   ·   B.2 ลูกค้าอารมณ์รุนแรง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B.3 แจ้งดำเนินการทางกฎหมาย   ·   B.4 ขอคืนเงิน/ชดเชย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B.5 ระบบขัดข้อง   ·   B.6 สายหลุดระหว่างสนทนา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7040880" y="4069080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E8F5E9"/>
          </a:solidFill>
          <a:ln w="12700">
            <a:solidFill>
              <a:srgbClr val="3DB049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726948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KPIs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7269480" y="4590288"/>
            <a:ext cx="82296" cy="82296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32" name="Text 23"/>
          <p:cNvSpPr/>
          <p:nvPr/>
        </p:nvSpPr>
        <p:spPr>
          <a:xfrm>
            <a:off x="7452360" y="44714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7269480" y="4937760"/>
            <a:ext cx="82296" cy="82296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34" name="Text 25"/>
          <p:cNvSpPr/>
          <p:nvPr/>
        </p:nvSpPr>
        <p:spPr>
          <a:xfrm>
            <a:off x="7452360" y="4818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Reduction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7269480" y="5285232"/>
            <a:ext cx="82296" cy="82296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36" name="Text 27"/>
          <p:cNvSpPr/>
          <p:nvPr/>
        </p:nvSpPr>
        <p:spPr>
          <a:xfrm>
            <a:off x="7452360" y="5166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Consistency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7269480" y="5632704"/>
            <a:ext cx="82296" cy="82296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38" name="Text 29"/>
          <p:cNvSpPr/>
          <p:nvPr/>
        </p:nvSpPr>
        <p:spPr>
          <a:xfrm>
            <a:off x="7452360" y="55138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Contact Resolution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สถาปัตยกรรมเทคโนโลยี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ข้อมูลไหลจากฐานความรู้ที่มีอยู่แล้ว ผ่าน AI Agent บน Environment ของบริษัท ไปสู่รายงานที่ผู้บริหารใช้ตัดสินใจได้ทันที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8028" y="237744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2E4057"/>
          </a:solidFill>
          <a:ln w="12700">
            <a:solidFill>
              <a:srgbClr val="3A4E66"/>
            </a:solidFill>
            <a:prstDash val="solid"/>
          </a:ln>
        </p:spPr>
      </p:sp>
      <p:pic>
        <p:nvPicPr>
          <p:cNvPr id="6" name="Image 0" descr="/home/claude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708" y="26517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3383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Sources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5188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/ Documents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(OneLink Way, SD-CS-01)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09748" y="3154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512668" y="237744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2E4057"/>
          </a:solidFill>
          <a:ln w="12700">
            <a:solidFill>
              <a:srgbClr val="3A4E66"/>
            </a:solidFill>
            <a:prstDash val="solid"/>
          </a:ln>
        </p:spPr>
      </p:sp>
      <p:pic>
        <p:nvPicPr>
          <p:cNvPr id="11" name="Image 1" descr="/home/claude/work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48" y="265176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9828" y="3383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49828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Studio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(รันบน Environment บริษัท)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844388" y="3154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347308" y="237744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2E4057"/>
          </a:solidFill>
          <a:ln w="12700">
            <a:solidFill>
              <a:srgbClr val="3A4E66"/>
            </a:solidFill>
            <a:prstDash val="solid"/>
          </a:ln>
        </p:spPr>
      </p:sp>
      <p:pic>
        <p:nvPicPr>
          <p:cNvPr id="16" name="Image 2" descr="/home/claude/work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988" y="265176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4468" y="3383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Engine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84468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ให้คะแนน + สร้างคำโค้ช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ตาม Rubric ที่กำหนด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679028" y="3154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9181948" y="237744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2E4057"/>
          </a:solidFill>
          <a:ln w="12700">
            <a:solidFill>
              <a:srgbClr val="3A4E66"/>
            </a:solidFill>
            <a:prstDash val="solid"/>
          </a:ln>
        </p:spPr>
      </p:sp>
      <p:pic>
        <p:nvPicPr>
          <p:cNvPr id="21" name="Image 3" descr="/home/claude/work/icons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0628" y="265176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9108" y="3383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19108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รายงานผลรายบุคคล/ทีม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และภาพรวมผู้บริหาร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22960" y="50749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24344A"/>
          </a:solidFill>
          <a:ln/>
        </p:spPr>
      </p:sp>
      <p:pic>
        <p:nvPicPr>
          <p:cNvPr id="25" name="Image 4" descr="/home/claude/work/icons/h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533095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523951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เป็นเจ้าของเนื้อหาและโมเดลสมรรถนะ (Content &amp; Competency Model)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217920" y="50749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24344A"/>
          </a:solidFill>
          <a:ln/>
        </p:spPr>
      </p:sp>
      <p:pic>
        <p:nvPicPr>
          <p:cNvPr id="28" name="Image 5" descr="/home/claude/work/icons/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330952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40880" y="523951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(CTO) เป็นเจ้าของแพลตฟอร์ม ความปลอดภัย และการเชื่อมต่อระบบ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บทบาทและความรับผิดชอบ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E405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3520440" cy="365760"/>
          </a:xfrm>
          <a:prstGeom prst="rect">
            <a:avLst/>
          </a:prstGeom>
          <a:solidFill>
            <a:srgbClr val="2E4057"/>
          </a:solidFill>
          <a:ln/>
        </p:spPr>
      </p:sp>
      <p:pic>
        <p:nvPicPr>
          <p:cNvPr id="7" name="Image 0" descr="/home/claude/work/icons/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54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900" dirty="0"/>
          </a:p>
        </p:txBody>
      </p:sp>
      <p:pic>
        <p:nvPicPr>
          <p:cNvPr id="9" name="Image 1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651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606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เนื้อหา OneLink Way</a:t>
            </a:r>
            <a:endParaRPr lang="en-US" sz="1150" dirty="0"/>
          </a:p>
        </p:txBody>
      </p:sp>
      <p:pic>
        <p:nvPicPr>
          <p:cNvPr id="11" name="Image 2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31012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07008" y="32644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Pathways</a:t>
            </a:r>
            <a:endParaRPr lang="en-US" sz="1150" dirty="0"/>
          </a:p>
        </p:txBody>
      </p:sp>
      <p:pic>
        <p:nvPicPr>
          <p:cNvPr id="13" name="Image 3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96849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39227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Model</a:t>
            </a:r>
            <a:endParaRPr lang="en-US" sz="1150" dirty="0"/>
          </a:p>
        </p:txBody>
      </p:sp>
      <p:pic>
        <p:nvPicPr>
          <p:cNvPr id="15" name="Image 4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62686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5811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อนุมัติเกณฑ์การประเมิน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4215384" y="15544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215384" y="15544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E4057"/>
          </a:solidFill>
          <a:ln/>
        </p:spPr>
      </p:sp>
      <p:sp>
        <p:nvSpPr>
          <p:cNvPr id="19" name="Shape 12"/>
          <p:cNvSpPr/>
          <p:nvPr/>
        </p:nvSpPr>
        <p:spPr>
          <a:xfrm>
            <a:off x="4215384" y="2103120"/>
            <a:ext cx="3520440" cy="365760"/>
          </a:xfrm>
          <a:prstGeom prst="rect">
            <a:avLst/>
          </a:prstGeom>
          <a:solidFill>
            <a:srgbClr val="2E4057"/>
          </a:solidFill>
          <a:ln/>
        </p:spPr>
      </p:sp>
      <p:pic>
        <p:nvPicPr>
          <p:cNvPr id="20" name="Image 5" descr="/home/claude/work/icons/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1737360"/>
            <a:ext cx="502920" cy="5029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9784" y="1554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(CTO)</a:t>
            </a:r>
            <a:endParaRPr lang="en-US" sz="1900" dirty="0"/>
          </a:p>
        </p:txBody>
      </p:sp>
      <p:pic>
        <p:nvPicPr>
          <p:cNvPr id="22" name="Image 6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65176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873752" y="2606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 (Build &amp; Config)</a:t>
            </a:r>
            <a:endParaRPr lang="en-US" sz="1150" dirty="0"/>
          </a:p>
        </p:txBody>
      </p:sp>
      <p:pic>
        <p:nvPicPr>
          <p:cNvPr id="24" name="Image 7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3310128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73752" y="32644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Integration</a:t>
            </a:r>
            <a:endParaRPr lang="en-US" sz="1150" dirty="0"/>
          </a:p>
        </p:txBody>
      </p:sp>
      <p:pic>
        <p:nvPicPr>
          <p:cNvPr id="26" name="Image 8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3968496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873752" y="39227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Access Control</a:t>
            </a:r>
            <a:endParaRPr lang="en-US" sz="1150" dirty="0"/>
          </a:p>
        </p:txBody>
      </p:sp>
      <p:pic>
        <p:nvPicPr>
          <p:cNvPr id="28" name="Image 9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4626864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873752" y="45811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ดูแลระบบ / Operational Owner</a:t>
            </a:r>
            <a:endParaRPr lang="en-US" sz="1150" dirty="0"/>
          </a:p>
        </p:txBody>
      </p:sp>
      <p:sp>
        <p:nvSpPr>
          <p:cNvPr id="30" name="Shape 18"/>
          <p:cNvSpPr/>
          <p:nvPr/>
        </p:nvSpPr>
        <p:spPr>
          <a:xfrm>
            <a:off x="7882128" y="15544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7882128" y="15544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3DB049"/>
          </a:solidFill>
          <a:ln/>
        </p:spPr>
      </p:sp>
      <p:sp>
        <p:nvSpPr>
          <p:cNvPr id="32" name="Shape 20"/>
          <p:cNvSpPr/>
          <p:nvPr/>
        </p:nvSpPr>
        <p:spPr>
          <a:xfrm>
            <a:off x="7882128" y="2103120"/>
            <a:ext cx="3520440" cy="365760"/>
          </a:xfrm>
          <a:prstGeom prst="rect">
            <a:avLst/>
          </a:prstGeom>
          <a:solidFill>
            <a:srgbClr val="3DB049"/>
          </a:solidFill>
          <a:ln/>
        </p:spPr>
      </p:sp>
      <p:pic>
        <p:nvPicPr>
          <p:cNvPr id="33" name="Image 10" descr="/home/claude/work/icons/ce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1737360"/>
            <a:ext cx="502920" cy="50292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796528" y="1554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Office</a:t>
            </a:r>
            <a:endParaRPr lang="en-US" sz="1900" dirty="0"/>
          </a:p>
        </p:txBody>
      </p:sp>
      <p:pic>
        <p:nvPicPr>
          <p:cNvPr id="35" name="Image 11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651760"/>
            <a:ext cx="274320" cy="27432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540496" y="2606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Role Boundary</a:t>
            </a:r>
            <a:endParaRPr lang="en-US" sz="1150" dirty="0"/>
          </a:p>
        </p:txBody>
      </p:sp>
      <p:pic>
        <p:nvPicPr>
          <p:cNvPr id="37" name="Image 12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310128"/>
            <a:ext cx="274320" cy="27432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8540496" y="32644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Definition</a:t>
            </a:r>
            <a:endParaRPr lang="en-US" sz="1150" dirty="0"/>
          </a:p>
        </p:txBody>
      </p:sp>
      <p:pic>
        <p:nvPicPr>
          <p:cNvPr id="39" name="Image 13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968496"/>
            <a:ext cx="274320" cy="27432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8540496" y="39227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</a:t>
            </a:r>
            <a:endParaRPr lang="en-US" sz="1150" dirty="0"/>
          </a:p>
        </p:txBody>
      </p:sp>
      <p:pic>
        <p:nvPicPr>
          <p:cNvPr id="41" name="Image 14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626864"/>
            <a:ext cx="274320" cy="27432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8540496" y="45811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จุดเชื่อมระหว่าง CEO ↔ CTO</a:t>
            </a:r>
            <a:endParaRPr lang="en-US" sz="1150" dirty="0"/>
          </a:p>
        </p:txBody>
      </p:sp>
      <p:sp>
        <p:nvSpPr>
          <p:cNvPr id="43" name="Text 26"/>
          <p:cNvSpPr/>
          <p:nvPr/>
        </p:nvSpPr>
        <p:spPr>
          <a:xfrm>
            <a:off x="548640" y="6108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CEO Office ทำหน้าที่เป็น Process Owner/Governance Bridge — ไม่ใช่ผู้ปฏิบัติการ (Operational Executor) ของแพลตฟอร์ม ซึ่งยังคงอยู่ภายใต้ความรับผิดชอบของ CTO</a:t>
            </a:r>
            <a:endParaRPr lang="en-US" sz="1000" dirty="0"/>
          </a:p>
        </p:txBody>
      </p:sp>
      <p:sp>
        <p:nvSpPr>
          <p:cNvPr id="44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45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APPROVE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ข้อพิจารณาด้านธรรมาภิบาลก่อนอนุมัติ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home/claude/work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13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02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SD-CS-01 ยังไม่มีผลบังคับใช้อย่างเป็นทางการ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08760" y="19202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เอกสารระบุ Effective Date = “ภายหลังได้รับอนุมัติและประกาศใช้อย่างเป็นทางการ” — การให้ AI Coach อ้างอิงมาตรฐานที่ยังไม่ Approve อาจสร้างความคาดหวังที่ยังไม่เป็นทางการแก่พนักงาน ควรผลักดันการอนุมัติ SD-CS-01 คู่ขนานกับ Pilot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752344"/>
            <a:ext cx="1088136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/home/claude/work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4495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4378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ข้อมูลการสนทนา/บทสนทนาจำลองเข้าข่าย PDPA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08760" y="3163824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การประเมิน Dialog อาจเกี่ยวข้องกับข้อมูลลูกค้าและพนักงาน ควรให้ DPO ตรวจสอบแนวทางจัดเก็บ-ประมวลผลข้อมูลตาม QP-IT-04 ก่อนเริ่ม Pilot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995928"/>
            <a:ext cx="1088136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/home/claude/work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8853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8736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ขอบเขตบทบาท CTO ต้องชัดเจนตั้งแต่ต้น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508760" y="44074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 อยู่ใน Environment ที่ CTO ดูแล — VP CEO Office ทำหน้าที่เสนอแนวคิดและกำกับ Governance เท่านั้น ไม่ควรเข้าไปกำหนดรายละเอียดทางเทคนิคของแพลตฟอร์ม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5239512"/>
            <a:ext cx="1088136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3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32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33095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precedes optimization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508760" y="565099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หากกระบวนการ Baseline (เช่น มาตรฐานสคริปต์, Competency Model) ยังไม่นิ่ง การนำ AI มาวัดผลอาจได้ผลลัพธ์ที่ไม่นิ่งตาม ควรยืนยันความเสถียรของ Baseline ก่อนขยายผลเกิน Pilot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ข้อเสนอ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2E4057"/>
          </a:solidFill>
          <a:ln/>
        </p:spPr>
      </p:sp>
      <p:pic>
        <p:nvPicPr>
          <p:cNvPr id="5" name="Image 0" descr="/home/claude/work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74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Pilot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ผู้ใช้งาน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 Service Desk, Call Center และ Team Leads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657600"/>
            <a:ext cx="4480560" cy="10973"/>
          </a:xfrm>
          <a:prstGeom prst="rect">
            <a:avLst/>
          </a:prstGeom>
          <a:solidFill>
            <a:srgbClr val="3A4E66"/>
          </a:solidFill>
          <a:ln/>
        </p:spPr>
      </p:sp>
      <p:pic>
        <p:nvPicPr>
          <p:cNvPr id="10" name="Image 1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404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8039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ครอบคลุมทั้ง 2 Module (OneLink Way + SD Dialog)</a:t>
            </a:r>
            <a:endParaRPr lang="en-US" sz="1150" dirty="0"/>
          </a:p>
        </p:txBody>
      </p:sp>
      <p:pic>
        <p:nvPicPr>
          <p:cNvPr id="12" name="Image 2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3068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ระยะเวลาแนะนำ: 6–8 สัปดาห์</a:t>
            </a:r>
            <a:endParaRPr lang="en-US" sz="1150" dirty="0"/>
          </a:p>
        </p:txBody>
      </p:sp>
      <p:pic>
        <p:nvPicPr>
          <p:cNvPr id="14" name="Image 3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4632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8097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ประเมินผลรายสัปดาห์ผ่าน Dashboard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035040" y="155448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E8F5E9"/>
          </a:solidFill>
          <a:ln w="12700">
            <a:solidFill>
              <a:srgbClr val="3DB049"/>
            </a:solidFill>
            <a:prstDash val="solid"/>
          </a:ln>
        </p:spPr>
      </p:sp>
      <p:pic>
        <p:nvPicPr>
          <p:cNvPr id="17" name="Image 4" descr="/home/claude/work/icons/arrow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2880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4088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355080" y="2606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&gt;85%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8001000" y="26060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Understanding — ความเข้าใจวัฒนธรรมองค์กร (Module 1)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355080" y="34747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8001000" y="34747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Dialog Compliance — ปฏิบัติตามมาตรฐานสคริปต์ (Module 2)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355080" y="4343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8001000" y="4343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— ความพึงพอใจของผู้เข้าร่วม Pilot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355080" y="5394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หมายเหตุ: ตัวเลขเป้าหมายเป็นสมมติฐานเริ่มต้นจาก Proposal — ควรยืนยันร่วมกับ HR/IT ก่อนนำเข้าเอกสารทางการ (INFERRED)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OneLink AI Validation &amp; Coaching Agent — Proposal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B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ข้อเสนอเพื่อพิจารณา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F2D3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512064" cy="512064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013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อนุมัติแนวคิด 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รับหลักการ AI Validation &amp; Coaching Agent เพื่อเริ่มโครงการนำร่อง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F2D3D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099816"/>
            <a:ext cx="512064" cy="512064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98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แต่งตั้งทีมทำงาน HR และ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30098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กำหนดผู้รับผิดชอบหลักจากทั้งสองฝ่ายเพื่อขับเคลื่อนร่วมกัน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F2D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51960"/>
            <a:ext cx="512064" cy="512064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105656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ยืนยันแหล่ง KM และ Scoring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45312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ยืนยันเอกสารอ้างอิง (รวมถึงสถานะการอนุมัติ SD-CS-01) และเกณฑ์การให้คะแนน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F2D3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404104"/>
            <a:ext cx="512064" cy="512064"/>
          </a:xfrm>
          <a:prstGeom prst="ellipse">
            <a:avLst/>
          </a:prstGeom>
          <a:solidFill>
            <a:srgbClr val="3DB04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04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25780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เริ่มพัฒนา MVP บน Microsoft Ecosystem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60527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Copilot Studio ภายใต้การกำกับดูแลของ CTO ตามขอบเขตที่กำหนด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CEO Office  |  เอกสารเสนอเพื่อพิจารณาโดย CEO และ CTO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2026-08-19T02:36:42Z</dcterms:created>
  <dcterms:modified xsi:type="dcterms:W3CDTF">2026-08-19T04:55:41Z</dcterms:modified>
</cp:coreProperties>
</file>